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A9CC7C-3A6B-45AF-B26B-8B6A20C175DD}">
  <a:tblStyle styleId="{83A9CC7C-3A6B-45AF-B26B-8B6A20C175D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10" Type="http://schemas.openxmlformats.org/officeDocument/2006/relationships/image" Target="../media/image16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18288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MACHINE LEARNING SEMESTER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22402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Retail Shoplifting Detection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3063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Using Pose-Based Feature Engineering and Classical Machine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48640" y="420624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548640" y="44348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Your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76402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Course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5093208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5422392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Instructor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575157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Why This Project?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325880"/>
            <a:ext cx="5577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stores rely heavily on CCTV cameras for monitoring theft-related activities. Manually watching surveillance footage is time-consuming and prone to human error. Shoplifting is often identified through body and hand movements — especially when a person picks up an item and tries to hide it in a pocket, jacket, or near the body.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320040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This project builds a machine learning system that classifies short retail CCTV clips as: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3794760"/>
            <a:ext cx="2468880" cy="640080"/>
          </a:xfrm>
          <a:prstGeom prst="roundRect">
            <a:avLst>
              <a:gd fmla="val 14286" name="adj"/>
            </a:avLst>
          </a:prstGeom>
          <a:solidFill>
            <a:srgbClr val="D14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48640" y="37947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91840" y="3794760"/>
            <a:ext cx="2468880" cy="640080"/>
          </a:xfrm>
          <a:prstGeom prst="roundRect">
            <a:avLst>
              <a:gd fmla="val 14286" name="adj"/>
            </a:avLst>
          </a:prstGeom>
          <a:solidFill>
            <a:srgbClr val="3FA8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91840" y="37947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THEFT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92240" y="1325880"/>
            <a:ext cx="5148072" cy="4434840"/>
          </a:xfrm>
          <a:prstGeom prst="roundRect">
            <a:avLst>
              <a:gd fmla="val 1649" name="adj"/>
            </a:avLst>
          </a:prstGeom>
          <a:solidFill>
            <a:srgbClr val="F3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492240" y="1554480"/>
            <a:ext cx="5148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FROM FOOTAGE TO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77656" y="2057400"/>
            <a:ext cx="777240" cy="777240"/>
          </a:xfrm>
          <a:prstGeom prst="ellipse">
            <a:avLst/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697" y="2158441"/>
            <a:ext cx="575158" cy="57515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6492240" y="2926080"/>
            <a:ext cx="5148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CCTV Clip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929116" y="3246120"/>
            <a:ext cx="274320" cy="274320"/>
          </a:xfrm>
          <a:prstGeom prst="ellipse">
            <a:avLst/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4778" y="3281782"/>
            <a:ext cx="202997" cy="202997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8677656" y="3520440"/>
            <a:ext cx="777240" cy="7772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8697" y="3621481"/>
            <a:ext cx="575158" cy="57515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6492240" y="4389120"/>
            <a:ext cx="5148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929116" y="4709160"/>
            <a:ext cx="274320" cy="274320"/>
          </a:xfrm>
          <a:prstGeom prst="ellipse">
            <a:avLst/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4778" y="4744822"/>
            <a:ext cx="202997" cy="20299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6766560" y="5074920"/>
            <a:ext cx="4599432" cy="4572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Theft / No Theft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Task: </a:t>
            </a:r>
            <a:r>
              <a:rPr b="0" i="0" lang="en-US" sz="14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Classify trimmed retail CCTV clips into two classes.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Short CCTV clip of a person interacting with a shelf       </a:t>
            </a:r>
            <a:r>
              <a:rPr b="1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Theft or No Theft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2240280"/>
            <a:ext cx="5349240" cy="2331720"/>
          </a:xfrm>
          <a:prstGeom prst="roundRect">
            <a:avLst>
              <a:gd fmla="val 3137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22960" y="2496312"/>
            <a:ext cx="457200" cy="457200"/>
          </a:xfrm>
          <a:prstGeom prst="ellipse">
            <a:avLst/>
          </a:prstGeom>
          <a:solidFill>
            <a:srgbClr val="D14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" y="2555748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1463040" y="251460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D1493F"/>
                </a:solidFill>
                <a:latin typeface="Cambria"/>
                <a:ea typeface="Cambria"/>
                <a:cs typeface="Cambria"/>
                <a:sym typeface="Cambria"/>
              </a:rPr>
              <a:t>Theft Behavior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8680" y="3108960"/>
            <a:ext cx="4754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Item hidden in pocket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Item hidden under jacket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Item hidden near belly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Item hidden inside front jacket / zip area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217920" y="2240280"/>
            <a:ext cx="5349240" cy="2331720"/>
          </a:xfrm>
          <a:prstGeom prst="roundRect">
            <a:avLst>
              <a:gd fmla="val 3137" name="adj"/>
            </a:avLst>
          </a:prstGeom>
          <a:solidFill>
            <a:srgbClr val="E9F6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492240" y="2496312"/>
            <a:ext cx="457200" cy="457200"/>
          </a:xfrm>
          <a:prstGeom prst="ellipse">
            <a:avLst/>
          </a:prstGeom>
          <a:solidFill>
            <a:srgbClr val="3FA8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1676" y="2555748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7132320" y="251460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87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3FA873"/>
                </a:solidFill>
                <a:latin typeface="Cambria"/>
                <a:ea typeface="Cambria"/>
                <a:cs typeface="Cambria"/>
                <a:sym typeface="Cambria"/>
              </a:rPr>
              <a:t>No-Theft Behavior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537960" y="3108960"/>
            <a:ext cx="4754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Person picks item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Looks at item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Keeps item visible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Walks normally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Google Shape;70;p5"/>
          <p:cNvGraphicFramePr/>
          <p:nvPr/>
        </p:nvGraphicFramePr>
        <p:xfrm>
          <a:off x="548640" y="480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{83A9CC7C-3A6B-45AF-B26B-8B6A20C175DD}</a:tableStyleId>
              </a:tblPr>
              <a:tblGrid>
                <a:gridCol w="2377450"/>
                <a:gridCol w="87142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Theft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 is concealed near body, pocket, or jacket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Theft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 remains visible or normal handling occurs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" name="Google Shape;71;p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The dataset contains two classes of CCTV clips, gathered with different camera angles and clip lengths.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1965960"/>
            <a:ext cx="1783080" cy="1371600"/>
          </a:xfrm>
          <a:prstGeom prst="roundRect">
            <a:avLst>
              <a:gd fmla="val 5333" name="adj"/>
            </a:avLst>
          </a:prstGeom>
          <a:solidFill>
            <a:srgbClr val="F3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48640" y="213055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493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D1493F"/>
                </a:solidFill>
                <a:latin typeface="Cambria"/>
                <a:ea typeface="Cambria"/>
                <a:cs typeface="Cambria"/>
                <a:sym typeface="Cambria"/>
              </a:rPr>
              <a:t>970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286207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Theft Clips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532888" y="1965960"/>
            <a:ext cx="1783080" cy="1371600"/>
          </a:xfrm>
          <a:prstGeom prst="roundRect">
            <a:avLst>
              <a:gd fmla="val 5333" name="adj"/>
            </a:avLst>
          </a:prstGeom>
          <a:solidFill>
            <a:srgbClr val="F3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532888" y="213055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87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3FA873"/>
                </a:solidFill>
                <a:latin typeface="Cambria"/>
                <a:ea typeface="Cambria"/>
                <a:cs typeface="Cambria"/>
                <a:sym typeface="Cambria"/>
              </a:rPr>
              <a:t>966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532888" y="286207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No-Theft Clips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17136" y="1965960"/>
            <a:ext cx="1783080" cy="1371600"/>
          </a:xfrm>
          <a:prstGeom prst="roundRect">
            <a:avLst>
              <a:gd fmla="val 5333" name="adj"/>
            </a:avLst>
          </a:prstGeom>
          <a:solidFill>
            <a:srgbClr val="F3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517136" y="213055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1936</a:t>
            </a:r>
            <a:endParaRPr b="1" sz="3200">
              <a:solidFill>
                <a:srgbClr val="0E7C8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17136" y="286207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Total Clips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Dataset Properties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413308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77240" y="402336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Different CCTV angles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4480560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77240" y="4370832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Different clip lengths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77240" y="4718304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One target person per clip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" y="5175504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77240" y="506577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Polygon crop / masking applied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8640" y="5522976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777240" y="5413248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Background and other people blacked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040880" y="1965960"/>
            <a:ext cx="4599432" cy="3246120"/>
          </a:xfrm>
          <a:prstGeom prst="roundRect">
            <a:avLst>
              <a:gd fmla="val 2254" name="adj"/>
            </a:avLst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7315200" y="2148840"/>
            <a:ext cx="4050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features_df["class_name"].value_counts()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7315200" y="2606040"/>
            <a:ext cx="4050792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/>
          <p:nvPr/>
        </p:nvSpPr>
        <p:spPr>
          <a:xfrm>
            <a:off x="7315200" y="2788920"/>
            <a:ext cx="4050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theft       </a:t>
            </a: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970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no_theft    966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315200" y="4023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955280" y="4050792"/>
            <a:ext cx="3136392" cy="228600"/>
          </a:xfrm>
          <a:prstGeom prst="rect">
            <a:avLst/>
          </a:prstGeom>
          <a:solidFill>
            <a:srgbClr val="D14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1183112" y="40233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315200" y="44348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no_theft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955280" y="4462272"/>
            <a:ext cx="2655479" cy="228600"/>
          </a:xfrm>
          <a:prstGeom prst="rect">
            <a:avLst/>
          </a:prstGeom>
          <a:solidFill>
            <a:srgbClr val="3FA8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0702199" y="44348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Why Classical Machine Learning?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128016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Deep learning models such as CNN, LSTM, and 3D CNN usually need larger datasets and more compute. With ~</a:t>
            </a:r>
            <a:r>
              <a:rPr lang="en-US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1936 </a:t>
            </a:r>
            <a:r>
              <a:rPr b="0" i="0" lang="en-US" sz="14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clips, a feature-based ML approach is more suitable — extracting meaningful body-movement features from videos instead of training directly on raw frames.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640" y="2240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Final Approach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" y="2606040"/>
            <a:ext cx="1280160" cy="502920"/>
          </a:xfrm>
          <a:prstGeom prst="roundRect">
            <a:avLst>
              <a:gd fmla="val 49091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48640" y="26060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783080" y="26060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057400" y="2606040"/>
            <a:ext cx="2103120" cy="502920"/>
          </a:xfrm>
          <a:prstGeom prst="roundRect">
            <a:avLst>
              <a:gd fmla="val 49091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057400" y="26060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Pose Landmarks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114800" y="26060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389120" y="2606040"/>
            <a:ext cx="2194560" cy="502920"/>
          </a:xfrm>
          <a:prstGeom prst="roundRect">
            <a:avLst>
              <a:gd fmla="val 49091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389120" y="26060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Motion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537960" y="26060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812280" y="2606040"/>
            <a:ext cx="2011680" cy="502920"/>
          </a:xfrm>
          <a:prstGeom prst="roundRect">
            <a:avLst>
              <a:gd fmla="val 49091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812280" y="26060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Classifier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Models Used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48640" y="3749040"/>
            <a:ext cx="2331720" cy="457200"/>
          </a:xfrm>
          <a:prstGeom prst="roundRect">
            <a:avLst>
              <a:gd fmla="val 16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4864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063240" y="3749040"/>
            <a:ext cx="2331720" cy="457200"/>
          </a:xfrm>
          <a:prstGeom prst="roundRect">
            <a:avLst>
              <a:gd fmla="val 16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306324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577840" y="3749040"/>
            <a:ext cx="2331720" cy="457200"/>
          </a:xfrm>
          <a:prstGeom prst="roundRect">
            <a:avLst>
              <a:gd fmla="val 16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57784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7"/>
          <p:cNvGraphicFramePr/>
          <p:nvPr/>
        </p:nvGraphicFramePr>
        <p:xfrm>
          <a:off x="548640" y="4434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{83A9CC7C-3A6B-45AF-B26B-8B6A20C175DD}</a:tableStyleId>
              </a:tblPr>
              <a:tblGrid>
                <a:gridCol w="2194550"/>
                <a:gridCol w="4448550"/>
                <a:gridCol w="4448550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 Learning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Classical ML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size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Needs large dataset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with small / medium dataset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learning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Learns features automatically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engineered features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Explainability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explainable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explainable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 cost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computation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Easier to train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" name="Google Shape;139;p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Proposed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2468880"/>
            <a:ext cx="1207008" cy="1371600"/>
          </a:xfrm>
          <a:prstGeom prst="roundRect">
            <a:avLst>
              <a:gd fmla="val 60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877824" y="263347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47" y="2704795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594360" y="324612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Raw CCTV Clip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755648" y="2971800"/>
            <a:ext cx="2050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960735" y="2468880"/>
            <a:ext cx="1207008" cy="1371600"/>
          </a:xfrm>
          <a:prstGeom prst="roundRect">
            <a:avLst>
              <a:gd fmla="val 60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2289919" y="263347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1242" y="2704795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2006455" y="324612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Polygon Crop 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Person Isolation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167743" y="2971800"/>
            <a:ext cx="2050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372830" y="2468880"/>
            <a:ext cx="1207008" cy="1371600"/>
          </a:xfrm>
          <a:prstGeom prst="roundRect">
            <a:avLst>
              <a:gd fmla="val 60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702014" y="263347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3337" y="2704795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3418550" y="324612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Sample 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Frames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9838" y="2971800"/>
            <a:ext cx="2050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784925" y="2468880"/>
            <a:ext cx="1207008" cy="1371600"/>
          </a:xfrm>
          <a:prstGeom prst="roundRect">
            <a:avLst>
              <a:gd fmla="val 60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114109" y="263347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5432" y="2704795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4830645" y="324612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MediaPipe Pose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991933" y="2971800"/>
            <a:ext cx="2050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197019" y="2468880"/>
            <a:ext cx="1207008" cy="1371600"/>
          </a:xfrm>
          <a:prstGeom prst="roundRect">
            <a:avLst>
              <a:gd fmla="val 60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526203" y="263347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7527" y="2704795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6242739" y="324612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404027" y="2971800"/>
            <a:ext cx="2050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609114" y="2468880"/>
            <a:ext cx="1207008" cy="1371600"/>
          </a:xfrm>
          <a:prstGeom prst="roundRect">
            <a:avLst>
              <a:gd fmla="val 60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7938298" y="263347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9621" y="2704795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7654834" y="324612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pose_features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.csv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816122" y="2971800"/>
            <a:ext cx="2050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021209" y="2468880"/>
            <a:ext cx="1207008" cy="1371600"/>
          </a:xfrm>
          <a:prstGeom prst="roundRect">
            <a:avLst>
              <a:gd fmla="val 60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9350393" y="263347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21716" y="2704795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9066929" y="324612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Train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0228217" y="2971800"/>
            <a:ext cx="2050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0433304" y="2468880"/>
            <a:ext cx="1207008" cy="1371600"/>
          </a:xfrm>
          <a:prstGeom prst="roundRect">
            <a:avLst>
              <a:gd fmla="val 60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0762488" y="263347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33811" y="2704795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10479024" y="324612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Predict Theft 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No Theft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48640" y="420624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An end-to-end flow: from raw footage to a Theft / No-Theft decision, via pose-based feature engineering.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Frame Sampling from Videos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Videos have different lengths, so each clip was converted into a fixed representation by sampling 30 frames at equal intervals.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Why Sampling Is Needed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48640" y="248716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777240" y="2377440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Clips are variable length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48640" y="285292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777240" y="2743200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Model needs fixed-size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48640" y="321868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777240" y="3108960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Important movement happens across a sequence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358444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777240" y="3474720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Sampling captures start, middle, and end of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48640" y="42062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3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1493F"/>
                </a:solidFill>
                <a:latin typeface="Calibri"/>
                <a:ea typeface="Calibri"/>
                <a:cs typeface="Calibri"/>
                <a:sym typeface="Calibri"/>
              </a:rPr>
              <a:t>Theft Clip — Sampled Frames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011680" y="411480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FBEDEB"/>
          </a:solidFill>
          <a:ln cap="flat" cmpd="sng" w="9525">
            <a:solidFill>
              <a:srgbClr val="D14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3081528" y="411480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FBEDEB"/>
          </a:solidFill>
          <a:ln cap="flat" cmpd="sng" w="9525">
            <a:solidFill>
              <a:srgbClr val="D14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151376" y="411480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FBEDEB"/>
          </a:solidFill>
          <a:ln cap="flat" cmpd="sng" w="9525">
            <a:solidFill>
              <a:srgbClr val="D14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5221224" y="411480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FBEDEB"/>
          </a:solidFill>
          <a:ln cap="flat" cmpd="sng" w="9525">
            <a:solidFill>
              <a:srgbClr val="D14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291072" y="411480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FBEDEB"/>
          </a:solidFill>
          <a:ln cap="flat" cmpd="sng" w="9525">
            <a:solidFill>
              <a:srgbClr val="D14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7360920" y="411480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FBEDEB"/>
          </a:solidFill>
          <a:ln cap="flat" cmpd="sng" w="9525">
            <a:solidFill>
              <a:srgbClr val="D14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8430768" y="411480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FBEDEB"/>
          </a:solidFill>
          <a:ln cap="flat" cmpd="sng" w="9525">
            <a:solidFill>
              <a:srgbClr val="D14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9500616" y="411480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FBEDEB"/>
          </a:solidFill>
          <a:ln cap="flat" cmpd="sng" w="9525">
            <a:solidFill>
              <a:srgbClr val="D14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536692" y="4338828"/>
            <a:ext cx="329184" cy="329184"/>
          </a:xfrm>
          <a:prstGeom prst="ellipse">
            <a:avLst/>
          </a:prstGeom>
          <a:solidFill>
            <a:srgbClr val="D14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9486" y="4381622"/>
            <a:ext cx="243596" cy="24359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548640" y="51663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8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A873"/>
                </a:solidFill>
                <a:latin typeface="Calibri"/>
                <a:ea typeface="Calibri"/>
                <a:cs typeface="Calibri"/>
                <a:sym typeface="Calibri"/>
              </a:rPr>
              <a:t>No-Theft Clip — Sampled Frames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011680" y="507492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E9F6EF"/>
          </a:solidFill>
          <a:ln cap="flat" cmpd="sng" w="9525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081528" y="507492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E9F6EF"/>
          </a:solidFill>
          <a:ln cap="flat" cmpd="sng" w="9525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151376" y="507492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E9F6EF"/>
          </a:solidFill>
          <a:ln cap="flat" cmpd="sng" w="9525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221224" y="507492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E9F6EF"/>
          </a:solidFill>
          <a:ln cap="flat" cmpd="sng" w="9525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291072" y="507492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E9F6EF"/>
          </a:solidFill>
          <a:ln cap="flat" cmpd="sng" w="9525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7360920" y="507492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E9F6EF"/>
          </a:solidFill>
          <a:ln cap="flat" cmpd="sng" w="9525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8430768" y="507492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E9F6EF"/>
          </a:solidFill>
          <a:ln cap="flat" cmpd="sng" w="9525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9500616" y="5074920"/>
            <a:ext cx="960120" cy="777240"/>
          </a:xfrm>
          <a:prstGeom prst="roundRect">
            <a:avLst>
              <a:gd fmla="val 4706" name="adj"/>
            </a:avLst>
          </a:prstGeom>
          <a:solidFill>
            <a:srgbClr val="E9F6EF"/>
          </a:solidFill>
          <a:ln cap="flat" cmpd="sng" w="9525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5536692" y="5298948"/>
            <a:ext cx="329184" cy="329184"/>
          </a:xfrm>
          <a:prstGeom prst="ellipse">
            <a:avLst/>
          </a:prstGeom>
          <a:solidFill>
            <a:srgbClr val="3FA8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9486" y="5341742"/>
            <a:ext cx="243596" cy="24359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Pose Landmark Extraction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MediaPipe Pose Landmarker was used to extract human body landmarks from each sampled frame.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4864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Key Landmarks Used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48640" y="244144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Left / right shoulder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48640" y="2788920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777240" y="26791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Left / right elbow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48640" y="3136392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777240" y="302666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Left / right wrist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48640" y="3483864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777240" y="3374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Left / right hip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These landmarks matter because shoplifting behavior often involves: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48640" y="4315968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777240" y="42062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Hand moving toward belly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48640" y="4636008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77240" y="452628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Hand moving toward pocket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48640" y="4956048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777240" y="48463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Arm bending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48640" y="5276088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777240" y="516636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Body turning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8640" y="5596128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777240" y="548640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One side becoming hidden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315200" y="1280160"/>
            <a:ext cx="4114800" cy="4846320"/>
          </a:xfrm>
          <a:prstGeom prst="roundRect">
            <a:avLst>
              <a:gd fmla="val 1778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7315200" y="14173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Pose Skeleton (Illustrative)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9116568" y="1801368"/>
            <a:ext cx="512064" cy="512064"/>
          </a:xfrm>
          <a:prstGeom prst="ellipse">
            <a:avLst/>
          </a:prstGeom>
          <a:solidFill>
            <a:srgbClr val="374151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10"/>
          <p:cNvCxnSpPr/>
          <p:nvPr/>
        </p:nvCxnSpPr>
        <p:spPr>
          <a:xfrm>
            <a:off x="9372600" y="2542032"/>
            <a:ext cx="0" cy="118872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10"/>
          <p:cNvCxnSpPr/>
          <p:nvPr/>
        </p:nvCxnSpPr>
        <p:spPr>
          <a:xfrm>
            <a:off x="8778240" y="2542032"/>
            <a:ext cx="1188720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10"/>
          <p:cNvCxnSpPr/>
          <p:nvPr/>
        </p:nvCxnSpPr>
        <p:spPr>
          <a:xfrm>
            <a:off x="8778240" y="2542032"/>
            <a:ext cx="457200" cy="50292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10"/>
          <p:cNvCxnSpPr/>
          <p:nvPr/>
        </p:nvCxnSpPr>
        <p:spPr>
          <a:xfrm flipH="1">
            <a:off x="9098280" y="3044952"/>
            <a:ext cx="137160" cy="45720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10"/>
          <p:cNvCxnSpPr/>
          <p:nvPr/>
        </p:nvCxnSpPr>
        <p:spPr>
          <a:xfrm>
            <a:off x="9966960" y="2542032"/>
            <a:ext cx="91440" cy="91440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0"/>
          <p:cNvCxnSpPr/>
          <p:nvPr/>
        </p:nvCxnSpPr>
        <p:spPr>
          <a:xfrm>
            <a:off x="8961120" y="3730752"/>
            <a:ext cx="822960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0"/>
          <p:cNvCxnSpPr/>
          <p:nvPr/>
        </p:nvCxnSpPr>
        <p:spPr>
          <a:xfrm>
            <a:off x="8961120" y="3730752"/>
            <a:ext cx="91440" cy="91440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10"/>
          <p:cNvCxnSpPr/>
          <p:nvPr/>
        </p:nvCxnSpPr>
        <p:spPr>
          <a:xfrm>
            <a:off x="9052560" y="4645152"/>
            <a:ext cx="45720" cy="82296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10"/>
          <p:cNvCxnSpPr/>
          <p:nvPr/>
        </p:nvCxnSpPr>
        <p:spPr>
          <a:xfrm flipH="1">
            <a:off x="9692640" y="3730752"/>
            <a:ext cx="91440" cy="91440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0"/>
          <p:cNvCxnSpPr/>
          <p:nvPr/>
        </p:nvCxnSpPr>
        <p:spPr>
          <a:xfrm flipH="1">
            <a:off x="9646920" y="4645152"/>
            <a:ext cx="45720" cy="82296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0"/>
          <p:cNvSpPr/>
          <p:nvPr/>
        </p:nvSpPr>
        <p:spPr>
          <a:xfrm>
            <a:off x="8723376" y="2487168"/>
            <a:ext cx="109728" cy="10972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9912096" y="2487168"/>
            <a:ext cx="109728" cy="10972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9180576" y="2990088"/>
            <a:ext cx="109728" cy="10972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0003536" y="3401568"/>
            <a:ext cx="109728" cy="10972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9043416" y="3447288"/>
            <a:ext cx="109728" cy="10972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10003536" y="3675888"/>
            <a:ext cx="109728" cy="10972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8906256" y="3675888"/>
            <a:ext cx="109728" cy="10972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9729216" y="3675888"/>
            <a:ext cx="109728" cy="10972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7498080" y="56692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Joint markers indicate tracked landmarks (shoulders, elbows, wrists, hips)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Feature Engineering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Each video was converted into one row of numerical features. Theft usually involves hand movement toward the body, jacket, belly, or pocket — so features were designed to capture these movement patterns.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9" name="Google Shape;289;p11"/>
          <p:cNvGraphicFramePr/>
          <p:nvPr/>
        </p:nvGraphicFramePr>
        <p:xfrm>
          <a:off x="54864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{83A9CC7C-3A6B-45AF-B26B-8B6A20C175DD}</a:tableStyleId>
              </a:tblPr>
              <a:tblGrid>
                <a:gridCol w="3657600"/>
                <a:gridCol w="7434075"/>
              </a:tblGrid>
              <a:tr h="4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Group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Useful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Wrist-to-belly distance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Detects hand moving near jacket / belly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Wrist-to-hip distance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Detects hand moving near pocket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Wrist speed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Detects sudden concealment movement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Elbow angle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Captures arm bending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Torso angle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Captures body turning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Landmark / side visibility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Captures occlusion / side hiding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Movement Visualization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The system visualizes movement patterns over time to interpret suspicious behavior.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37360"/>
            <a:ext cx="352044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548640" y="363931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Wrist-to-Belly Distance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48640" y="393192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Distance decreases sharply — the hand is moving closer to the body.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737360"/>
            <a:ext cx="352044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2"/>
          <p:cNvSpPr/>
          <p:nvPr/>
        </p:nvSpPr>
        <p:spPr>
          <a:xfrm>
            <a:off x="4297680" y="363931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Wrist Speed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297680" y="393192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A speed spike signals sudden hand movement.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0" y="1737360"/>
            <a:ext cx="352044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2"/>
          <p:cNvSpPr/>
          <p:nvPr/>
        </p:nvSpPr>
        <p:spPr>
          <a:xfrm>
            <a:off x="8046720" y="363931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Elbow Angle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8046720" y="393192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Angle drops as the arm bends inward.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48640" y="4983480"/>
            <a:ext cx="11091672" cy="594360"/>
          </a:xfrm>
          <a:prstGeom prst="roundRect">
            <a:avLst>
              <a:gd fmla="val 12308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777240" y="4983480"/>
            <a:ext cx="10634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Example: a sudden wrist movement and a drop in wrist-to-belly distance occur as the person turns and moves a hand near the body.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Pose Quality Filtering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48640" y="123444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Some videos had weak pose detection due to camera angle, occlusion, or partial visibility. A pose detection ratio was calculated to filter low-quality clips.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548640" y="2103120"/>
            <a:ext cx="6583680" cy="594360"/>
          </a:xfrm>
          <a:prstGeom prst="roundRect">
            <a:avLst>
              <a:gd fmla="val 12308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731520" y="210312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A44"/>
                </a:solidFill>
                <a:latin typeface="Courier New"/>
                <a:ea typeface="Courier New"/>
                <a:cs typeface="Courier New"/>
                <a:sym typeface="Courier New"/>
              </a:rPr>
              <a:t>pose_detection_ratio = valid pose frames / total sampled frames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13"/>
          <p:cNvGraphicFramePr/>
          <p:nvPr/>
        </p:nvGraphicFramePr>
        <p:xfrm>
          <a:off x="548640" y="28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{83A9CC7C-3A6B-45AF-B26B-8B6A20C175DD}</a:tableStyleId>
              </a:tblPr>
              <a:tblGrid>
                <a:gridCol w="1645925"/>
                <a:gridCol w="1645925"/>
                <a:gridCol w="1645925"/>
                <a:gridCol w="164592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Threshold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Theft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Theft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1916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2" name="Google Shape;322;p13"/>
          <p:cNvSpPr/>
          <p:nvPr/>
        </p:nvSpPr>
        <p:spPr>
          <a:xfrm>
            <a:off x="7818120" y="1234440"/>
            <a:ext cx="3822192" cy="3657600"/>
          </a:xfrm>
          <a:prstGeom prst="roundRect">
            <a:avLst>
              <a:gd fmla="val 2000" name="adj"/>
            </a:avLst>
          </a:prstGeom>
          <a:solidFill>
            <a:srgbClr val="0E7C86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9409176" y="15087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2386" y="15919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/>
          <p:nvPr/>
        </p:nvSpPr>
        <p:spPr>
          <a:xfrm>
            <a:off x="7818120" y="2286000"/>
            <a:ext cx="3822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5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1F5F2"/>
                </a:solidFill>
                <a:latin typeface="Calibri"/>
                <a:ea typeface="Calibri"/>
                <a:cs typeface="Calibri"/>
                <a:sym typeface="Calibri"/>
              </a:rPr>
              <a:t>Final 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818120" y="2560320"/>
            <a:ext cx="38221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0.3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8092440" y="3429000"/>
            <a:ext cx="32735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7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0F7F5"/>
                </a:solidFill>
                <a:latin typeface="Calibri"/>
                <a:ea typeface="Calibri"/>
                <a:cs typeface="Calibri"/>
                <a:sym typeface="Calibri"/>
              </a:rPr>
              <a:t>Preserved more no-theft videos and reduced dataset imbalance.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Machine Learning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48640" y="137160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F3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822960" y="1627632"/>
            <a:ext cx="502920" cy="502920"/>
          </a:xfrm>
          <a:prstGeom prst="ellipse">
            <a:avLst/>
          </a:prstGeom>
          <a:solidFill>
            <a:srgbClr val="475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340" y="1693012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4"/>
          <p:cNvSpPr/>
          <p:nvPr/>
        </p:nvSpPr>
        <p:spPr>
          <a:xfrm>
            <a:off x="822960" y="22402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11827"/>
                </a:solidFill>
                <a:latin typeface="Cambria"/>
                <a:ea typeface="Cambria"/>
                <a:cs typeface="Cambria"/>
                <a:sym typeface="Cambria"/>
              </a:rPr>
              <a:t>Logistic Regression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Baseline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4297680" y="137160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E3F2F1"/>
          </a:solidFill>
          <a:ln>
            <a:noFill/>
          </a:ln>
          <a:effectLst>
            <a:outerShdw blurRad="762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4572000" y="1627632"/>
            <a:ext cx="502920" cy="5029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7380" y="1693012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4"/>
          <p:cNvSpPr/>
          <p:nvPr/>
        </p:nvSpPr>
        <p:spPr>
          <a:xfrm>
            <a:off x="4572000" y="22402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11827"/>
                </a:solidFill>
                <a:latin typeface="Cambria"/>
                <a:ea typeface="Cambria"/>
                <a:cs typeface="Cambria"/>
                <a:sym typeface="Cambria"/>
              </a:rPr>
              <a:t>SVM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72000" y="26060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Main classifier for non-linear separation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8046720" y="137160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F3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8321040" y="1627632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6420" y="1693012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4"/>
          <p:cNvSpPr/>
          <p:nvPr/>
        </p:nvSpPr>
        <p:spPr>
          <a:xfrm>
            <a:off x="8321040" y="22402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11827"/>
                </a:solidFill>
                <a:latin typeface="Cambria"/>
                <a:ea typeface="Cambria"/>
                <a:cs typeface="Cambria"/>
                <a:sym typeface="Cambria"/>
              </a:rPr>
              <a:t>Random Forest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8321040" y="26060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Feature importance &amp; comparison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Preprocessing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48640" y="381304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777240" y="370332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Missing values handled using median imputation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548640" y="4160520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777240" y="4050792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Features scaled using StandardScaler for SVM and Logistic Regression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48640" y="4507992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777240" y="4398264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Class imbalance handled using class_weight="balanced"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7818120" y="3337560"/>
            <a:ext cx="3822192" cy="2286000"/>
          </a:xfrm>
          <a:prstGeom prst="roundRect">
            <a:avLst>
              <a:gd fmla="val 3200" name="adj"/>
            </a:avLst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7818120" y="3520440"/>
            <a:ext cx="3822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FINAL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7818120" y="3794760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SVM (RBF Kernel)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8001000" y="4206240"/>
            <a:ext cx="34564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C =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gamma =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class_weight = balanced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Initial Model 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548640" y="12344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Using 0.3 pose detection threshold and a single train-test split: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1" name="Google Shape;371;p15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{83A9CC7C-3A6B-45AF-B26B-8B6A20C175DD}</a:tableStyleId>
              </a:tblPr>
              <a:tblGrid>
                <a:gridCol w="2011675"/>
                <a:gridCol w="1143000"/>
                <a:gridCol w="1143000"/>
                <a:gridCol w="1143000"/>
                <a:gridCol w="1143000"/>
              </a:tblGrid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Bal. Acc.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Theft 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No-Theft 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1"/>
                    </a:solidFill>
                  </a:tcPr>
                </a:tc>
              </a:tr>
            </a:tbl>
          </a:graphicData>
        </a:graphic>
      </p:graphicFrame>
      <p:sp>
        <p:nvSpPr>
          <p:cNvPr id="372" name="Google Shape;372;p15"/>
          <p:cNvSpPr/>
          <p:nvPr/>
        </p:nvSpPr>
        <p:spPr>
          <a:xfrm>
            <a:off x="548640" y="3383280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Random Forest performed well on a single split, but cross-validation was needed for a more reliable evaluation.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7818120" y="1691640"/>
            <a:ext cx="3822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Random Forest — Confusion Matrix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8092440" y="2103120"/>
            <a:ext cx="1636776" cy="1636776"/>
          </a:xfrm>
          <a:prstGeom prst="rect">
            <a:avLst/>
          </a:prstGeom>
          <a:solidFill>
            <a:srgbClr val="3FA87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8092440" y="2103120"/>
            <a:ext cx="1636776" cy="1636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9729216" y="2103120"/>
            <a:ext cx="1636776" cy="1636776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9729216" y="2103120"/>
            <a:ext cx="1636776" cy="1636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493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D1493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092440" y="3739896"/>
            <a:ext cx="1636776" cy="1636776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8092440" y="3739896"/>
            <a:ext cx="1636776" cy="1636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493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D1493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9729216" y="3739896"/>
            <a:ext cx="1636776" cy="1636776"/>
          </a:xfrm>
          <a:prstGeom prst="rect">
            <a:avLst/>
          </a:prstGeom>
          <a:solidFill>
            <a:srgbClr val="3FA87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9729216" y="3739896"/>
            <a:ext cx="1636776" cy="1636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8092440" y="5422392"/>
            <a:ext cx="3273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Predicted: No Theft        Predicted: Theft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7818120" y="5788152"/>
            <a:ext cx="38221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1493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1493F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theft clips were missed</a:t>
            </a:r>
            <a:b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no-theft clips wrongly flagged as theft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5-Fold Cross-Validation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2" name="Google Shape;392;p16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{83A9CC7C-3A6B-45AF-B26B-8B6A20C175DD}</a:tableStyleId>
              </a:tblPr>
              <a:tblGrid>
                <a:gridCol w="2862075"/>
                <a:gridCol w="2194550"/>
                <a:gridCol w="2194550"/>
                <a:gridCol w="2194550"/>
                <a:gridCol w="2194550"/>
              </a:tblGrid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Bal. Acc.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Theft Recall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No-Theft Recall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44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71.9%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70.7%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77.1%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64.2%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80.9%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79.7%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86.6%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72.7%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76.2%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74.1%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86.6%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61.5%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3" name="Google Shape;393;p16"/>
          <p:cNvSpPr/>
          <p:nvPr/>
        </p:nvSpPr>
        <p:spPr>
          <a:xfrm>
            <a:off x="548640" y="3520440"/>
            <a:ext cx="11091672" cy="1188720"/>
          </a:xfrm>
          <a:prstGeom prst="roundRect">
            <a:avLst>
              <a:gd fmla="val 7692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890" y="38779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6"/>
          <p:cNvSpPr/>
          <p:nvPr/>
        </p:nvSpPr>
        <p:spPr>
          <a:xfrm>
            <a:off x="1737360" y="3520440"/>
            <a:ext cx="96286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SVM performed best overall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it had the best balance between theft detection and no-theft detection.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"/>
          <p:cNvSpPr/>
          <p:nvPr/>
        </p:nvSpPr>
        <p:spPr>
          <a:xfrm>
            <a:off x="548640" y="411480"/>
            <a:ext cx="1109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SVM Hyperparameter Tuning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548640" y="123444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GridSearchCV was used to tune the SVM model.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548640" y="1645920"/>
            <a:ext cx="1737300" cy="640200"/>
          </a:xfrm>
          <a:prstGeom prst="roundRect">
            <a:avLst>
              <a:gd fmla="val 11429" name="adj"/>
            </a:avLst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548640" y="1645920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 = </a:t>
            </a:r>
            <a:r>
              <a:rPr b="1" i="0" lang="en-US" sz="1400" u="none" cap="none" strike="noStrik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2468880" y="1645920"/>
            <a:ext cx="1737300" cy="640200"/>
          </a:xfrm>
          <a:prstGeom prst="roundRect">
            <a:avLst>
              <a:gd fmla="val 11429" name="adj"/>
            </a:avLst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2468880" y="1645920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gamma = </a:t>
            </a:r>
            <a:r>
              <a:rPr b="1" i="0" lang="en-US" sz="1400" u="none" cap="none" strike="noStrik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scale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4389120" y="1645920"/>
            <a:ext cx="1737300" cy="640200"/>
          </a:xfrm>
          <a:prstGeom prst="roundRect">
            <a:avLst>
              <a:gd fmla="val 11429" name="adj"/>
            </a:avLst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4389120" y="1645920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kernel = </a:t>
            </a:r>
            <a:r>
              <a:rPr b="1" i="0" lang="en-US" sz="1400" u="none" cap="none" strike="noStrik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rbf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2" name="Google Shape;412;p17"/>
          <p:cNvGraphicFramePr/>
          <p:nvPr/>
        </p:nvGraphicFramePr>
        <p:xfrm>
          <a:off x="54864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{83A9CC7C-3A6B-45AF-B26B-8B6A20C175DD}</a:tableStyleId>
              </a:tblPr>
              <a:tblGrid>
                <a:gridCol w="3291850"/>
                <a:gridCol w="2560325"/>
              </a:tblGrid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83.2% ± 6.0%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Balanced Accuracy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82.4% ± 6.3%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Theft Precision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84.5% ± 5.3%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Theft Recall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87.3% ± 4.8%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Theft F1-score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85.9% ± 4.9%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No-Theft Recall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77.5% ± 8.3%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17"/>
          <p:cNvSpPr/>
          <p:nvPr/>
        </p:nvSpPr>
        <p:spPr>
          <a:xfrm>
            <a:off x="6583680" y="2514600"/>
            <a:ext cx="5056500" cy="3108900"/>
          </a:xfrm>
          <a:prstGeom prst="roundRect">
            <a:avLst>
              <a:gd fmla="val 2353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8837676" y="2743200"/>
            <a:ext cx="548700" cy="5487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5" name="Google Shape;4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8999" y="281452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7"/>
          <p:cNvSpPr/>
          <p:nvPr/>
        </p:nvSpPr>
        <p:spPr>
          <a:xfrm>
            <a:off x="6583680" y="3429000"/>
            <a:ext cx="505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Tuned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6583680" y="3703320"/>
            <a:ext cx="5056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83.2%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6583680" y="4343400"/>
            <a:ext cx="505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6812280" y="4983480"/>
            <a:ext cx="4599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Final performance result of this project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54864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1118311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Important 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Random Forest feature importance reveals which signals drove predictions.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45920"/>
            <a:ext cx="6400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/>
          <p:nvPr/>
        </p:nvSpPr>
        <p:spPr>
          <a:xfrm>
            <a:off x="7589520" y="1645920"/>
            <a:ext cx="4050792" cy="3657600"/>
          </a:xfrm>
          <a:prstGeom prst="roundRect">
            <a:avLst>
              <a:gd fmla="val 2000" name="adj"/>
            </a:avLst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7863840" y="1828800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MODEL LEARNED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7863840" y="2258568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8092440" y="2139696"/>
            <a:ext cx="3273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Hand moving near pocket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7863840" y="2825496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8092440" y="2706624"/>
            <a:ext cx="3273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Hand moving near belly / jacket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7863840" y="3392424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8092440" y="3273552"/>
            <a:ext cx="3273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Body turning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7863840" y="3959352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8092440" y="3840480"/>
            <a:ext cx="3273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Side visibility change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7863840" y="4526280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8092440" y="4407408"/>
            <a:ext cx="3273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Arm bending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This explainability is a key advantage of the classical ML approach.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Video-Level Prediction Demo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final model runs end-to-end on real videos: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548640" y="1691640"/>
            <a:ext cx="1554480" cy="54864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548640" y="1691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Input Video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2103120" y="1691640"/>
            <a:ext cx="3529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2456078" y="1691640"/>
            <a:ext cx="1554480" cy="54864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2456078" y="1691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Extract Frames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4010558" y="1691640"/>
            <a:ext cx="3529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4363517" y="1691640"/>
            <a:ext cx="1554480" cy="54864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4363517" y="1691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Pose Landmarks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5917997" y="1691640"/>
            <a:ext cx="3529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6270955" y="1691640"/>
            <a:ext cx="1554480" cy="54864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6270955" y="1691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Compute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7825435" y="1691640"/>
            <a:ext cx="3529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8178394" y="1691640"/>
            <a:ext cx="1554480" cy="54864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8178394" y="1691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9732874" y="1691640"/>
            <a:ext cx="3529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0085832" y="1691640"/>
            <a:ext cx="1554480" cy="54864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10085832" y="1691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Overlay Result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548640" y="2606040"/>
            <a:ext cx="5212080" cy="2377440"/>
          </a:xfrm>
          <a:prstGeom prst="roundRect">
            <a:avLst>
              <a:gd fmla="val 3077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777240" y="2834640"/>
            <a:ext cx="4754880" cy="141732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2788920" y="3200400"/>
            <a:ext cx="731520" cy="731520"/>
          </a:xfrm>
          <a:prstGeom prst="ellipse">
            <a:avLst/>
          </a:prstGeom>
          <a:solidFill>
            <a:srgbClr val="D14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4018" y="329549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9"/>
          <p:cNvSpPr/>
          <p:nvPr/>
        </p:nvSpPr>
        <p:spPr>
          <a:xfrm>
            <a:off x="777240" y="43891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3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1493F"/>
                </a:solidFill>
                <a:latin typeface="Calibri"/>
                <a:ea typeface="Calibri"/>
                <a:cs typeface="Calibri"/>
                <a:sym typeface="Calibri"/>
              </a:rPr>
              <a:t>Demo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777240" y="46177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Correct Theft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6172200" y="2606040"/>
            <a:ext cx="5212080" cy="2377440"/>
          </a:xfrm>
          <a:prstGeom prst="roundRect">
            <a:avLst>
              <a:gd fmla="val 3077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6400800" y="2834640"/>
            <a:ext cx="4754880" cy="141732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8412480" y="3200400"/>
            <a:ext cx="731520" cy="731520"/>
          </a:xfrm>
          <a:prstGeom prst="ellipse">
            <a:avLst/>
          </a:prstGeom>
          <a:solidFill>
            <a:srgbClr val="3FA8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8" name="Google Shape;4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578" y="329549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9"/>
          <p:cNvSpPr/>
          <p:nvPr/>
        </p:nvSpPr>
        <p:spPr>
          <a:xfrm>
            <a:off x="6400800" y="43891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8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A873"/>
                </a:solidFill>
                <a:latin typeface="Calibri"/>
                <a:ea typeface="Calibri"/>
                <a:cs typeface="Calibri"/>
                <a:sym typeface="Calibri"/>
              </a:rPr>
              <a:t>Demo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6400800" y="46177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Correct No-Theft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548640" y="51663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Output overlays pose skeleton, wrist movement trail, prediction label, and confidence on the video.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Example Prediction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548640" y="1280160"/>
            <a:ext cx="11091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The model predicted this clip as no-theft with high confidence. A pose detection ratio of 1.0 means pose was detected successfully in every sampled frame.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548640" y="2057400"/>
            <a:ext cx="5029200" cy="3657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"/>
          <p:cNvSpPr/>
          <p:nvPr/>
        </p:nvSpPr>
        <p:spPr>
          <a:xfrm>
            <a:off x="2862072" y="2770632"/>
            <a:ext cx="402336" cy="402336"/>
          </a:xfrm>
          <a:prstGeom prst="ellipse">
            <a:avLst/>
          </a:prstGeom>
          <a:solidFill>
            <a:srgbClr val="374151"/>
          </a:solidFill>
          <a:ln cap="flat" cmpd="sng" w="19050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3" name="Google Shape;493;p20"/>
          <p:cNvCxnSpPr/>
          <p:nvPr/>
        </p:nvCxnSpPr>
        <p:spPr>
          <a:xfrm>
            <a:off x="3063240" y="3246120"/>
            <a:ext cx="0" cy="1280160"/>
          </a:xfrm>
          <a:prstGeom prst="straightConnector1">
            <a:avLst/>
          </a:prstGeom>
          <a:noFill/>
          <a:ln cap="flat" cmpd="sng" w="31750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20"/>
          <p:cNvCxnSpPr/>
          <p:nvPr/>
        </p:nvCxnSpPr>
        <p:spPr>
          <a:xfrm>
            <a:off x="2606040" y="3429000"/>
            <a:ext cx="914400" cy="0"/>
          </a:xfrm>
          <a:prstGeom prst="straightConnector1">
            <a:avLst/>
          </a:prstGeom>
          <a:noFill/>
          <a:ln cap="flat" cmpd="sng" w="31750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20"/>
          <p:cNvCxnSpPr/>
          <p:nvPr/>
        </p:nvCxnSpPr>
        <p:spPr>
          <a:xfrm flipH="1">
            <a:off x="2468880" y="3429000"/>
            <a:ext cx="137160" cy="914400"/>
          </a:xfrm>
          <a:prstGeom prst="straightConnector1">
            <a:avLst/>
          </a:prstGeom>
          <a:noFill/>
          <a:ln cap="flat" cmpd="sng" w="31750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20"/>
          <p:cNvCxnSpPr/>
          <p:nvPr/>
        </p:nvCxnSpPr>
        <p:spPr>
          <a:xfrm>
            <a:off x="3520440" y="3429000"/>
            <a:ext cx="137160" cy="914400"/>
          </a:xfrm>
          <a:prstGeom prst="straightConnector1">
            <a:avLst/>
          </a:prstGeom>
          <a:noFill/>
          <a:ln cap="flat" cmpd="sng" w="31750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20"/>
          <p:cNvCxnSpPr/>
          <p:nvPr/>
        </p:nvCxnSpPr>
        <p:spPr>
          <a:xfrm flipH="1">
            <a:off x="2697480" y="4526280"/>
            <a:ext cx="91440" cy="1097280"/>
          </a:xfrm>
          <a:prstGeom prst="straightConnector1">
            <a:avLst/>
          </a:prstGeom>
          <a:noFill/>
          <a:ln cap="flat" cmpd="sng" w="31750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20"/>
          <p:cNvCxnSpPr/>
          <p:nvPr/>
        </p:nvCxnSpPr>
        <p:spPr>
          <a:xfrm>
            <a:off x="3337560" y="4526280"/>
            <a:ext cx="91440" cy="1097280"/>
          </a:xfrm>
          <a:prstGeom prst="straightConnector1">
            <a:avLst/>
          </a:prstGeom>
          <a:noFill/>
          <a:ln cap="flat" cmpd="sng" w="31750">
            <a:solidFill>
              <a:srgbClr val="3FA8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20"/>
          <p:cNvSpPr/>
          <p:nvPr/>
        </p:nvSpPr>
        <p:spPr>
          <a:xfrm>
            <a:off x="777240" y="2286000"/>
            <a:ext cx="2103120" cy="457200"/>
          </a:xfrm>
          <a:prstGeom prst="roundRect">
            <a:avLst>
              <a:gd fmla="val 16000" name="adj"/>
            </a:avLst>
          </a:prstGeom>
          <a:solidFill>
            <a:srgbClr val="3FA8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777240" y="2286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THEFT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5532120" y="2057400"/>
            <a:ext cx="6108192" cy="3657600"/>
          </a:xfrm>
          <a:prstGeom prst="roundRect">
            <a:avLst>
              <a:gd fmla="val 2000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5852160" y="2331720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0268712" y="233172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FA87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FA873"/>
                </a:solidFill>
                <a:latin typeface="Cambria"/>
                <a:ea typeface="Cambria"/>
                <a:cs typeface="Cambria"/>
                <a:sym typeface="Cambria"/>
              </a:rPr>
              <a:t>No Theft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20"/>
          <p:cNvCxnSpPr/>
          <p:nvPr/>
        </p:nvCxnSpPr>
        <p:spPr>
          <a:xfrm>
            <a:off x="5852160" y="2715768"/>
            <a:ext cx="5468112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20"/>
          <p:cNvSpPr/>
          <p:nvPr/>
        </p:nvSpPr>
        <p:spPr>
          <a:xfrm>
            <a:off x="5852160" y="2953512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10268712" y="2953512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0.925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20"/>
          <p:cNvCxnSpPr/>
          <p:nvPr/>
        </p:nvCxnSpPr>
        <p:spPr>
          <a:xfrm>
            <a:off x="5852160" y="3337560"/>
            <a:ext cx="5468112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20"/>
          <p:cNvSpPr/>
          <p:nvPr/>
        </p:nvSpPr>
        <p:spPr>
          <a:xfrm>
            <a:off x="5852160" y="3575304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Theft Probability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10268712" y="3575304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0.075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20"/>
          <p:cNvCxnSpPr/>
          <p:nvPr/>
        </p:nvCxnSpPr>
        <p:spPr>
          <a:xfrm>
            <a:off x="5852160" y="3959352"/>
            <a:ext cx="5468112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20"/>
          <p:cNvSpPr/>
          <p:nvPr/>
        </p:nvSpPr>
        <p:spPr>
          <a:xfrm>
            <a:off x="5852160" y="4197096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No-Theft Probability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10268712" y="4197096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0.925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20"/>
          <p:cNvCxnSpPr/>
          <p:nvPr/>
        </p:nvCxnSpPr>
        <p:spPr>
          <a:xfrm>
            <a:off x="5852160" y="4581144"/>
            <a:ext cx="5468112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20"/>
          <p:cNvSpPr/>
          <p:nvPr/>
        </p:nvSpPr>
        <p:spPr>
          <a:xfrm>
            <a:off x="5852160" y="4818888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Pose Detection Ratio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10268712" y="4818888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1.0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Error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Some false positives and false negatives occurred.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548640" y="1737360"/>
            <a:ext cx="5349240" cy="3931920"/>
          </a:xfrm>
          <a:prstGeom prst="roundRect">
            <a:avLst>
              <a:gd fmla="val 1860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822960" y="1993392"/>
            <a:ext cx="502920" cy="502920"/>
          </a:xfrm>
          <a:prstGeom prst="ellipse">
            <a:avLst/>
          </a:prstGeom>
          <a:solidFill>
            <a:srgbClr val="D14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7" name="Google Shape;5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340" y="2058772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1"/>
          <p:cNvSpPr/>
          <p:nvPr/>
        </p:nvSpPr>
        <p:spPr>
          <a:xfrm>
            <a:off x="1463040" y="196596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D1493F"/>
                </a:solidFill>
                <a:latin typeface="Cambria"/>
                <a:ea typeface="Cambria"/>
                <a:cs typeface="Cambria"/>
                <a:sym typeface="Cambria"/>
              </a:rPr>
              <a:t>False Positive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822960" y="260604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Actual no-theft clip predicted as theft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822960" y="30175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Possible reasons: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868680" y="333756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Normal customer moves hand close to body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Person turns sideways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Object is held near torso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Pose resembles concealment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6217920" y="1737360"/>
            <a:ext cx="5349240" cy="3931920"/>
          </a:xfrm>
          <a:prstGeom prst="roundRect">
            <a:avLst>
              <a:gd fmla="val 1860" name="adj"/>
            </a:avLst>
          </a:prstGeom>
          <a:solidFill>
            <a:srgbClr val="FEF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/>
          <p:nvPr/>
        </p:nvSpPr>
        <p:spPr>
          <a:xfrm>
            <a:off x="6492240" y="1993392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4" name="Google Shape;5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7620" y="2058772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1"/>
          <p:cNvSpPr/>
          <p:nvPr/>
        </p:nvSpPr>
        <p:spPr>
          <a:xfrm>
            <a:off x="7132320" y="196596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False Negative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6492240" y="260604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Actual theft clip predicted as no-theft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6492240" y="30175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Possible reasons: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6537960" y="333756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Concealment is subtle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Body is partially visible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Pose detection misses wrist / hip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Camera angle hides important movement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Limitations and 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548640" y="1371600"/>
            <a:ext cx="5349240" cy="4572000"/>
          </a:xfrm>
          <a:prstGeom prst="roundRect">
            <a:avLst>
              <a:gd fmla="val 1600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475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9" name="Google Shape;5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" y="1687068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2"/>
          <p:cNvSpPr/>
          <p:nvPr/>
        </p:nvSpPr>
        <p:spPr>
          <a:xfrm>
            <a:off x="1463040" y="164592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44"/>
                </a:solidFill>
                <a:latin typeface="Cambria"/>
                <a:ea typeface="Cambria"/>
                <a:cs typeface="Cambria"/>
                <a:sym typeface="Cambria"/>
              </a:rPr>
              <a:t>Limitations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868680" y="228600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Small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Different CCTV angles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Some partial body visibility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 direct item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Trained on trimmed clips, not full surveillance video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Some normal actions look similar to concealment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6217920" y="1371600"/>
            <a:ext cx="5349240" cy="4572000"/>
          </a:xfrm>
          <a:prstGeom prst="roundRect">
            <a:avLst>
              <a:gd fmla="val 16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6492240" y="1627632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4" name="Google Shape;5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1676" y="1687068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2"/>
          <p:cNvSpPr/>
          <p:nvPr/>
        </p:nvSpPr>
        <p:spPr>
          <a:xfrm>
            <a:off x="7132320" y="164592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6537960" y="228600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Add more no-theft videos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Add object visibility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Detect exact concealment moment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Use longer CCTV videos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Build a web demo interface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Try XGBoost / LightGBM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Add confidence threshold for human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467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"/>
          <p:cNvSpPr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/>
          <p:nvPr/>
        </p:nvSpPr>
        <p:spPr>
          <a:xfrm>
            <a:off x="548640" y="123444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This project developed a pose-based ML system for classifying retail CCTV clips as theft or no-theft. Instead of deep learning on raw video frames, the system extracted pose landmarks and engineered motion features.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548640" y="507492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The results show that pose-based motion features can effectively capture suspicious concealment behavior, and can be used as a human-review support tool in retail surveillance.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6675120" y="1280160"/>
            <a:ext cx="1417320" cy="1417320"/>
          </a:xfrm>
          <a:prstGeom prst="roundRect">
            <a:avLst>
              <a:gd fmla="val 51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6675120" y="1444752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Cambria"/>
                <a:ea typeface="Cambria"/>
                <a:cs typeface="Cambria"/>
                <a:sym typeface="Cambria"/>
              </a:rPr>
              <a:t>83.2%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6766560" y="214884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8275320" y="1280160"/>
            <a:ext cx="1417320" cy="1417320"/>
          </a:xfrm>
          <a:prstGeom prst="roundRect">
            <a:avLst>
              <a:gd fmla="val 51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8275320" y="1444752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Cambria"/>
                <a:ea typeface="Cambria"/>
                <a:cs typeface="Cambria"/>
                <a:sym typeface="Cambria"/>
              </a:rPr>
              <a:t>82.4%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8366760" y="214884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Balanced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6675120" y="2880360"/>
            <a:ext cx="1417320" cy="1417320"/>
          </a:xfrm>
          <a:prstGeom prst="roundRect">
            <a:avLst>
              <a:gd fmla="val 51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6675120" y="3044952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Cambria"/>
                <a:ea typeface="Cambria"/>
                <a:cs typeface="Cambria"/>
                <a:sym typeface="Cambria"/>
              </a:rPr>
              <a:t>87.3%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3"/>
          <p:cNvSpPr/>
          <p:nvPr/>
        </p:nvSpPr>
        <p:spPr>
          <a:xfrm>
            <a:off x="6766560" y="374904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Theft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8275320" y="2880360"/>
            <a:ext cx="1417320" cy="1417320"/>
          </a:xfrm>
          <a:prstGeom prst="roundRect">
            <a:avLst>
              <a:gd fmla="val 5161" name="adj"/>
            </a:avLst>
          </a:prstGeom>
          <a:solidFill>
            <a:srgbClr val="1F2937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3"/>
          <p:cNvSpPr/>
          <p:nvPr/>
        </p:nvSpPr>
        <p:spPr>
          <a:xfrm>
            <a:off x="8275320" y="3044952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Cambria"/>
                <a:ea typeface="Cambria"/>
                <a:cs typeface="Cambria"/>
                <a:sym typeface="Cambria"/>
              </a:rPr>
              <a:t>77.5%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8366760" y="374904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No-Theft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6675120" y="45262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Model: Tuned SVM (RBF Kernel)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Retail Shoplifting Detection — ML Semester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